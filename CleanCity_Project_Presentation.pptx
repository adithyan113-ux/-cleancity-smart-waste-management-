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000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evaluators, teachers, and colleagues.</a:t>
            </a:r>
          </a:p>
          <a:p>
            <a:r>
              <a:t>Today, I am presenting our major project: CleanCity - an AI-Powered Smart Waste Management and Dynamic Collection Optimization System.</a:t>
            </a:r>
          </a:p>
          <a:p>
            <a:r>
              <a:t>It is a unified, mobile-first responsive web platform designed to automate waste detection, optimize collection truck routes dynamically, and incentivize citizens through EcoRewards.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Current urban waste management systems suffer from three fundamental bottlenecks:</a:t>
            </a:r>
          </a:p>
          <a:p>
            <a:r>
              <a:t>1. Static routing: Trucks drive everywhere even when bins are empty, burning diesel.</a:t>
            </a:r>
          </a:p>
          <a:p>
            <a:r>
              <a:t>2. No citizen engagement: People have no easy mobile tool to report garbage with GPS.</a:t>
            </a:r>
          </a:p>
          <a:p>
            <a:r>
              <a:t>3. No intelligence: No automated AI to classify hazardous waste or prioritize urgent cleanups.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proposed solution addresses all existing gaps:</a:t>
            </a:r>
          </a:p>
          <a:p>
            <a:r>
              <a:t>1. Mobile geotagged reporting makes it effortless for citizens to capture photo &amp; GPS coordinates.</a:t>
            </a:r>
          </a:p>
          <a:p>
            <a:r>
              <a:t>2. The server-side AI analyzes the photo and determines the severity.</a:t>
            </a:r>
          </a:p>
          <a:p>
            <a:r>
              <a:t>3. Our dynamic routing algorithm calculates the shortest path for workers.</a:t>
            </a:r>
          </a:p>
          <a:p>
            <a:r>
              <a:t>4. EcoRewards incentivize citizens to keep their city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our complete system architecture consisting of four robust layers:</a:t>
            </a:r>
          </a:p>
          <a:p>
            <a:r>
              <a:t>Layer 1 is the mobile-first React frontend running on any phone browser without requiring app store installation.</a:t>
            </a:r>
          </a:p>
          <a:p>
            <a:r>
              <a:t>Layer 2 is the secure Django REST API enforcing role-based permissions.</a:t>
            </a:r>
          </a:p>
          <a:p>
            <a:r>
              <a:t>Layer 3 handles server-side AI classification and dynamic TSP routing.</a:t>
            </a:r>
          </a:p>
          <a:p>
            <a:r>
              <a:t>Layer 4 is the relational database storing reports, coordinates, and user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chose a modern, enterprise-proven technology stack:</a:t>
            </a:r>
          </a:p>
          <a:p>
            <a:r>
              <a:t>React and Tailwind CSS ensure a fast, fluid 60fps mobile experience without writing native Android or iOS apps.</a:t>
            </a:r>
          </a:p>
          <a:p>
            <a:r>
              <a:t>Django REST Framework handles business logic, automated testing, and security with high reliability.</a:t>
            </a:r>
          </a:p>
          <a:p>
            <a:r>
              <a:t>The system complies with WCAG 2.2 AA accessibility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critical requirement of our project is strict Role Isolation ('separate each module'):</a:t>
            </a:r>
          </a:p>
          <a:p>
            <a:r>
              <a:t>When an Admin logs in, they only see administrative supervisory controls.</a:t>
            </a:r>
          </a:p>
          <a:p>
            <a:r>
              <a:t>When a Worker logs in, they only see their assigned collection stops and route navigation.</a:t>
            </a:r>
          </a:p>
          <a:p>
            <a:r>
              <a:t>When a Citizen logs in, they only see waste reporting and EcoRewards.</a:t>
            </a:r>
          </a:p>
          <a:p>
            <a:r>
              <a:t>No role can access another's screens 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Security is a prime highlight of our project.</a:t>
            </a:r>
          </a:p>
          <a:p>
            <a:r>
              <a:t>When anyone registers as a worker or citizen, their account is initialized with is_approved=False.</a:t>
            </a:r>
          </a:p>
          <a:p>
            <a:r>
              <a:t>Even with valid credentials, the Django backend blocks login until the Admin verifies their ID and approves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AI engine solves one of the biggest urban issues: prioritizing cleanup.</a:t>
            </a:r>
          </a:p>
          <a:p>
            <a:r>
              <a:t>Running model inference server-side ensures mobile users don't suffer from heavy browser lag.</a:t>
            </a:r>
          </a:p>
          <a:p>
            <a:r>
              <a:t>Hazardous waste and emergency bins are immediately flagged in red and routed with top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show the dynamic routing impact:</a:t>
            </a:r>
          </a:p>
          <a:p>
            <a:r>
              <a:t>Instead of drivers aimlessly circling the city, our algorithm connects the active complaint coordinates</a:t>
            </a:r>
          </a:p>
          <a:p>
            <a:r>
              <a:t>using a Traveling Salesperson optimization solver, saving up to 35% in fuel.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presents our production-ready Login and Worker Registration interface.</a:t>
            </a:r>
          </a:p>
          <a:p>
            <a:r>
              <a:t>As per user requirements, all demo chips were removed.</a:t>
            </a:r>
          </a:p>
          <a:p>
            <a:r>
              <a:t>Workers have a dedicated registration link capturing driving license proof and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screen shows the Citizen Report Garbage interface.</a:t>
            </a:r>
          </a:p>
          <a:p>
            <a:r>
              <a:t>It supports instant camera capture, client-side compression to save mobile data, and an interactive Leaflet GPS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we show the EcoRewards gamification engine.</a:t>
            </a:r>
          </a:p>
          <a:p>
            <a:r>
              <a:t>Citizens get 20 points for each approved cleanup report, and every 100 points unlocks digital discount vouchers.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dedicated sanitation worker view.</a:t>
            </a:r>
          </a:p>
          <a:p>
            <a:r>
              <a:t>Workers see their turn-by-turn collection stops, preview the waste photo, and mark stops as collected on their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Municipal Administrator's command center.</a:t>
            </a:r>
          </a:p>
          <a:p>
            <a:r>
              <a:t>Admins get a bird's-eye view of all complaints on a Leaflet map and can run the route optimizer with one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satisfy the user's specific requirement ('randum rand page il kanikuva'),</a:t>
            </a:r>
          </a:p>
          <a:p>
            <a:r>
              <a:t>we engineered two separate admin pages: one dedicated to Workers (with driver license checks),</a:t>
            </a:r>
          </a:p>
          <a:p>
            <a:r>
              <a:t>and one dedicated to Citizens (with report and points monitoring).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three roles have full profile view and edit functionality.</a:t>
            </a:r>
          </a:p>
          <a:p>
            <a:r>
              <a:t>They can upload or capture profile photos, change contact information, and edit residential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database schema is fully normalized and enforces referential integrity.</a:t>
            </a:r>
          </a:p>
          <a:p>
            <a:r>
              <a:t>Key models include UserProfile with approval flags, WasteReport with high-precision GPS coordinates,</a:t>
            </a:r>
          </a:p>
          <a:p>
            <a:r>
              <a:t>CollectionRoute with ordered RouteStops, and RewardVoucher.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backed our implementation with rigorous testing and standards.</a:t>
            </a:r>
          </a:p>
          <a:p>
            <a:r>
              <a:t>All 18 Django unit tests pass with zero errors.</a:t>
            </a:r>
          </a:p>
          <a:p>
            <a:r>
              <a:t>The frontend meets WCAG 2.2 AA accessibility standards with 44x44px touch targets and responsive layouts down to 320px.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Looking forward, CleanCity can easily scale with IoT smart bin sensors, offline background synchronization,</a:t>
            </a:r>
          </a:p>
          <a:p>
            <a:r>
              <a:t>and integration with municipal utility billing systems for direct electricity or water bill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CleanCity provides a complete, intelligent, and scalable municipal waste management ecosystem.</a:t>
            </a:r>
          </a:p>
          <a:p>
            <a:r>
              <a:t>It achieves our goal of reducing fuel costs, empowering citizens through EcoRewards, and streamlining municipal administration.</a:t>
            </a:r>
          </a:p>
          <a:p>
            <a:r>
              <a:t>Thank you for your time and attention. I am now open to your questions and feedback!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CleanCity: AI-Powered Smart Waste Management &amp; Dynamic Collection Optimization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8263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dirty="0"/>
              <a:t>A Responsive Mobile-First Urban Sanitation Platform with AI Severity Classification, GIS TSP Rout</a:t>
            </a:r>
            <a:r>
              <a:rPr lang="en-US" dirty="0"/>
              <a:t>e Optimization, Citizen Eco Rewards &amp; Strict Admin Approval Controls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987552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6112571" cy="10823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rPr dirty="0"/>
              <a:t>Project Domain: Artificial Intelligence, GIS Geospatial Mapping &amp; Full-Stack Web Engineering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rPr dirty="0"/>
              <a:t>Technology Stack: React 19 + Tailwind CSS + Python Django REST Framework + MySQL / Leaflet Maps</a:t>
            </a:r>
          </a:p>
          <a:p>
            <a:pPr>
              <a:spcBef>
                <a:spcPts val="120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Presented By: [</a:t>
            </a:r>
            <a:r>
              <a:rPr lang="en-US" dirty="0"/>
              <a:t>TEAM GADWAL</a:t>
            </a:r>
            <a:r>
              <a:rPr dirty="0"/>
              <a:t> ]  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Statement: Urban Waste Management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🚛 Inefficient Static Routes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Traditional municipal trucks follow rigid, predetermined schedules regardless of actual waste volume.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Trucks visit empty bins or miss overflowing garbage blackspots completely.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Massive fuel wastage and unnecessary vehicle carbon footprint (up to 30-40% route inefficiency).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• High operational costs for local municipalities and urban local bodies (ULBs).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👥 Zero Citizen Motivation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Citizens lack an accessible, real-time method to report littering and overflowing bins.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Zero feedback or progress transparency: reported issues disappear into bureaucratic delays.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Absence of rewards or gamification to encourage civic responsibility and segregation.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Manual telephone complaints or paper registers are cumbersome and lack GPS geotagging.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🔍 Lack of AI &amp; Governance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Inability to automatically categorize waste types (Hazardous, Organic, Recyclable, E-waste).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No automated severity rating: high-priority health hazards are treated identically to minor litter.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Unverified worker signups and security risks without dedicated administrator vetting.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Supervisors cannot track collection tasks, completion timestamps, or truck stops.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Solution: The CleanCity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4E3B"/>
                </a:solidFill>
              </a:defRPr>
            </a:pPr>
            <a:r>
              <a:t>🌟 Core Platform Philosophy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CleanCity transforms reactive municipal waste management into an intelligent, data-driven, and participatory ecosystem.</a:t>
            </a:r>
            <a:br/>
            <a:br/>
            <a:r>
              <a:t>By combining citizen mobile reporting, server-side Computer Vision AI, Leaflet GIS mapping, dynamic route optimization, and municipal governance, CleanCity delivers measurable efficiency gains.</a:t>
            </a:r>
          </a:p>
          <a:p>
            <a:pPr>
              <a:spcBef>
                <a:spcPts val="1400"/>
              </a:spcBef>
              <a:defRPr sz="1300" b="1">
                <a:solidFill>
                  <a:srgbClr val="0F172A"/>
                </a:solidFill>
              </a:defRPr>
            </a:pPr>
            <a:r>
              <a:t>Key Project Achievements:</a:t>
            </a:r>
          </a:p>
          <a:p>
            <a:pPr>
              <a:spcBef>
                <a:spcPts val="600"/>
              </a:spcBef>
              <a:defRPr sz="1100" b="1">
                <a:solidFill>
                  <a:srgbClr val="0E7490"/>
                </a:solidFill>
              </a:defRPr>
            </a:pPr>
            <a:r>
              <a:t>✓ 25% to 35% reduction in collection vehicle travel distance.</a:t>
            </a:r>
          </a:p>
          <a:p>
            <a:pPr>
              <a:spcBef>
                <a:spcPts val="600"/>
              </a:spcBef>
              <a:defRPr sz="1100" b="1">
                <a:solidFill>
                  <a:srgbClr val="0E7490"/>
                </a:solidFill>
              </a:defRPr>
            </a:pPr>
            <a:r>
              <a:t>✓ Instant server-side AI waste classification with severity scoring.</a:t>
            </a:r>
          </a:p>
          <a:p>
            <a:pPr>
              <a:spcBef>
                <a:spcPts val="600"/>
              </a:spcBef>
              <a:defRPr sz="1100" b="1">
                <a:solidFill>
                  <a:srgbClr val="0E7490"/>
                </a:solidFill>
              </a:defRPr>
            </a:pPr>
            <a:r>
              <a:t>✓ Single unified responsive web app (Mobile, Tablet, Desktop).</a:t>
            </a:r>
          </a:p>
          <a:p>
            <a:pPr>
              <a:spcBef>
                <a:spcPts val="600"/>
              </a:spcBef>
              <a:defRPr sz="1100" b="1">
                <a:solidFill>
                  <a:srgbClr val="0E7490"/>
                </a:solidFill>
              </a:defRPr>
            </a:pPr>
            <a:r>
              <a:t>✓ Strict Admin approval workflow for sanitation workers &amp; citizens.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09728" cy="10515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64208"/>
            <a:ext cx="484632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📸 Mobile Geotagged Reporting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Direct camera capture / gallery upload with HTML5 GPS picker, client-side compression, and duplicate prevention.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70632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770632"/>
            <a:ext cx="109728" cy="105156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484632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🧠 AI Waste Classification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Server-side Computer Vision categorizes waste (Organic, Recyclable, Hazardous) &amp; computes severity scores (Low to Emergency).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86784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10972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096512"/>
            <a:ext cx="484632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🗺️ Dynamic TSP Route Optimization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Calculates optimal shortest pickup route on Leaflet GIS maps based on open complaints, priority, and truck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202936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5202936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5312664"/>
            <a:ext cx="484632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🎁 EcoRewards &amp; Admin Governance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Gamified 100-point milestone vouchers for citizens, plus dedicated Superuser vetting and approval for sanitation staff.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Architecture: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92608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Presentation Layer (Mobile-First 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64208"/>
            <a:ext cx="74066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Technologies: React 19 + Tailwind CSS + Lucide Icons + Leaflet GIS Maps + Progressive Web App (PWA)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Fully responsive UI (320px to 4K), Touch-friendly controls (44x44px), Semantic HTML, WCAG 2.2 AA accessibility, Camera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2926080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API &amp; Controller Layer (REST Backend)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52928"/>
            <a:ext cx="74066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Technologies: Python Django 5.x + Django REST Framework (DRF) + Token Auth + CORS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Session authentication, strictly enforced role permissions, request validation, image compression, rate limiting &amp;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292608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AI Intelligence &amp; Optimization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41648"/>
            <a:ext cx="74066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Technologies: Server-Side Computer Vision Model + Dynamic Traveling Salesperson (TSP) Routing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Automated waste classification (Biodegradable, Plastic, Hazardous), multi-factor severity scoring, Dijkstra/TSP shortest route dispatch.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292608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Relational Data Layer (Database)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230368"/>
            <a:ext cx="74066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Technologies: MySQL / SQLite (ACID Compliant Database) + Django ORM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User &amp; Role Profiles, Geotagged Waste Reports, Optimized Routes &amp; Stops, EcoVoucher Ledger, Audit Logs &amp; Historical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Development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468880" cy="5486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🎨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React 19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Modern component hierarchy &amp; state management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Tailwind CSS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Mobile-first responsive styling &amp; animations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Leaflet.js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Interactive GIS maps &amp; GPS route polyline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Lucide Icons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Clear accessible iconography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PWA Support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Installable home-screen web app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2468880" cy="5486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⚙️ 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Python 3.10+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High performance core backend programming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Django 5.x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Robust enterprise web application framework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Django REST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RESTful serialization &amp; JSON endpoints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Token &amp; Session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Protected authentication &amp; CSRF safety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Pillow / CV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Client &amp; server image processing/compression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4688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🗄️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MySQL / SQLite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ACID compliant relational data persistence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Django ORM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Type-safe database querying &amp; migrations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Spatial Coordinates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Accurate double-precision GPS lat/lng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User Profiles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Extended RBAC user model with approval flag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Voucher Ledger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Fraud-proof rewards redemption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1554480"/>
            <a:ext cx="24688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🛡️ Quality &amp;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WCAG 2.2 AA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Screen reader &amp; high contrast accessibility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Automated Tests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18 Django unit test suites passing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Responsive 320px+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Zero horizontal overflow on any device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Role-Based RBAC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Superuser Admin, Worker, Citizen isolation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• Modular Structure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   Clean separation of concerns throughout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Role Separation: Citizen, Worker &amp; Admin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3756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👤 Citizen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✓ Quick camera capture / gallery photo upload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Interactive GPS pin location picker on Leaflet map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Auto-save report tracking (Pending, Approved, Resolved)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EcoRewards milestone tracker (20 pts / report)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100-point voucher redemption system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Full profile management with photo 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3337560" cy="5943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🚛 Sanitation Worker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✓ Dedicated driver application with DL / Employee ID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Mobile-friendly turn-by-turn collection task route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Real-time stop completion status updates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Visual garbage photo &amp; severity details per stop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Emergency priority stop highlights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Driver profile view &amp; contact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33756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👑 Municipal Admin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✓ Superuser control: strictly ONLY ONE admin in the system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Separate Workers Page: review DL, photo, approve/delete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Separate Citizens Page: inspect points, approve/delete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Dynamic TSP route generator &amp; truck assignment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Live GIS interactive map of city-wide blackspots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✓ Comprehensive analytics &amp; voucher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Governance: Registration &amp; Admin Approval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231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1: Registration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Citizen / Worker registers on web.</a:t>
            </a:r>
            <a:br/>
            <a:r>
              <a:t>Worker submits DL / Gov ID &amp; Photo.</a:t>
            </a:r>
            <a:br/>
            <a:r>
              <a:t>Mandatory mobile &amp; email captured.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27832" y="2743200"/>
            <a:ext cx="201168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02152" y="1554480"/>
            <a:ext cx="24231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5032" y="173736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28600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2: Pending State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Account saved with is_approved=False.</a:t>
            </a:r>
            <a:br/>
            <a:r>
              <a:t>Direct login blocked with 403 Forbidden.</a:t>
            </a:r>
            <a:br/>
            <a:r>
              <a:t>Notice alert: 'Pending Admin Approval'.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98464" y="2743200"/>
            <a:ext cx="201168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72784" y="1554480"/>
            <a:ext cx="24231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55664" y="1737360"/>
            <a:ext cx="411480" cy="41148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28600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3: Admin Review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Admin opens dedicated Workers / Citizens page.</a:t>
            </a:r>
            <a:br/>
            <a:r>
              <a:t>Vets credentials, phone &amp; driver ID proof.</a:t>
            </a:r>
            <a:br/>
            <a:r>
              <a:t>Clicks 'Approve' or 'Delete'.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9096" y="2743200"/>
            <a:ext cx="201168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43416" y="1554480"/>
            <a:ext cx="24231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26296" y="1737360"/>
            <a:ext cx="411480" cy="4114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286000"/>
            <a:ext cx="2057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Step 4: Active Login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Account activates: is_approved=True.</a:t>
            </a:r>
            <a:br/>
            <a:r>
              <a:t>User can now securely sign in.</a:t>
            </a:r>
            <a:br/>
            <a:r>
              <a:t>Auto-redirected to respective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98480" cy="1554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7490"/>
                </a:solidFill>
              </a:defRPr>
            </a:pPr>
            <a:r>
              <a:t>🔒 Security &amp; Quality Assurance Rationale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1. Superuser Integrity: Exactly ONE Municipal Admin exists in the database. Workers or citizens cannot gain superuser rights.</a:t>
            </a:r>
            <a:br/>
            <a:r>
              <a:t>2. Anti-Spam &amp; Fraud Defense: Prevents unauthorized users from masquerading as collection workers or spamming fake reports.</a:t>
            </a:r>
            <a:br/>
            <a:r>
              <a:t>3. Verification on Separate Pages: As requested, Worker applications with DL proof and Citizen accounts reside on distinct admin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Feature Spotlight: AI Waste Classification &amp; Severity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4E3B"/>
                </a:solidFill>
              </a:defRPr>
            </a:pPr>
            <a:r>
              <a:t>🧠 Server-Side Computer Vision Engine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Server-Side Inference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Executed on the Django backend to eliminate downloading heavy AI models onto slow mobile browser connections.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Multi-Class Categorization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Detects Organic/Biodegradable, Recyclable Plastics/Metals, E-Waste, and Hazardous Bio-medical garbage.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Multi-Factor Severity Scoring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Evaluates garbage visual density, area spread, and proximity to water/schools into 4 severity tiers: Low, Medium, High, and Emergency.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Dynamic Priority Escalation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Emergency and High severity reports are automatically prioritized at the top of the collection truck's dispatch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137160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🥗 Organic / Biodegradable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Items: Food waste, garden trimmings, vegetable peels</a:t>
            </a:r>
          </a:p>
          <a:p>
            <a:pPr>
              <a:spcBef>
                <a:spcPts val="200"/>
              </a:spcBef>
              <a:defRPr sz="1000" b="1">
                <a:solidFill>
                  <a:srgbClr val="22C55E"/>
                </a:solidFill>
              </a:defRPr>
            </a:pPr>
            <a:r>
              <a:t>Action: Standard Collection (Compost Facility)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70632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770632"/>
            <a:ext cx="13716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862072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🧴 Recyclable Plastics / Paper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Items: Bottles, cardboard, packaging containers</a:t>
            </a:r>
          </a:p>
          <a:p>
            <a:pPr>
              <a:spcBef>
                <a:spcPts val="200"/>
              </a:spcBef>
              <a:defRPr sz="1000" b="1">
                <a:solidFill>
                  <a:srgbClr val="3B82F6"/>
                </a:solidFill>
              </a:defRPr>
            </a:pPr>
            <a:r>
              <a:t>Action: Material Recovery Facility (MRF)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86784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137160" cy="1051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078224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⚡ Electronic Waste (E-Waste)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Items: Circuit boards, batteries, spent cables</a:t>
            </a:r>
          </a:p>
          <a:p>
            <a:pPr>
              <a:spcBef>
                <a:spcPts val="200"/>
              </a:spcBef>
              <a:defRPr sz="1000" b="1">
                <a:solidFill>
                  <a:srgbClr val="A855F7"/>
                </a:solidFill>
              </a:defRPr>
            </a:pPr>
            <a:r>
              <a:t>Action: Specialized E-waste Recycling Hub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202936"/>
            <a:ext cx="5212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5202936"/>
            <a:ext cx="137160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5294376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⚠️ Hazardous / Medical Waste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Items: Syringes, chemicals, sanitary blackspots</a:t>
            </a:r>
          </a:p>
          <a:p>
            <a:pPr>
              <a:spcBef>
                <a:spcPts val="200"/>
              </a:spcBef>
              <a:defRPr sz="1000" b="1">
                <a:solidFill>
                  <a:srgbClr val="EF4444"/>
                </a:solidFill>
              </a:defRPr>
            </a:pPr>
            <a:r>
              <a:t>Action: EMERGENCY: Immediate Dispatch within 2 hrs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Feature Spotlight: Dynamic Route Optimization &amp; 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🗺️ TSP Route Optimization Algorithm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Geospatial Geohashing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Clusters open reports within municipal wards using latitude &amp; longitude coordinates.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Multi-Factor Objective Function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Calculates weights based on Haversine distance, complaint age, and AI severity score.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Dynamic TSP Solver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Determines the optimal sequence of stops starting from the sanitation depot to all active collection bins.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</a:defRPr>
            </a:pPr>
            <a:r>
              <a:t>• Live Turn-by-Turn Stop List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   Provides the worker with sequential ordered navigation stops, estimated travel distance, and fuel savings.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📊 Static Route vs CleanCity Dynamic Route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Route Planning: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   ❌ Traditional: Fixed timetable; same route daily regardless of bins.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   ✅ CleanCity: Real-time; calculated dynamically from open geotagged complaints.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Fuel Consumption: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   ❌ Traditional: Excessive diesel burned visiting empty zones.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   ✅ CleanCity: 25% - 35% fuel savings by eliminating unneeded stops.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Urgent Complaints: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   ❌ Traditional: Delayed until the scheduled day of the week.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   ✅ CleanCity: Emergency &amp; high-severity waste prioritized instantly.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Worker Efficiency: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   ❌ Traditional: No visual feedback; manual paper trip sheets.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   ✅ CleanCity: Mobile screen shows stop photos, directions &amp; instant status updates.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▶ Supervisor Audit: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   ❌ Traditional: No record of actual route completion.</a:t>
            </a:r>
          </a:p>
          <a:p>
            <a:pPr>
              <a:defRPr sz="950" b="1">
                <a:solidFill>
                  <a:srgbClr val="0E7490"/>
                </a:solidFill>
              </a:defRPr>
            </a:pPr>
            <a:r>
              <a:t>   ✅ CleanCity: Digital timestamps recorded for every collected stop.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dirty="0"/>
              <a:t>System Interface: Unified Login &amp; Dedicated Worker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4E3B"/>
                </a:solidFill>
              </a:defRPr>
            </a:pPr>
            <a:r>
              <a:rPr dirty="0"/>
              <a:t>🔐 Screen Highlights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dirty="0"/>
              <a:t>• Single Login Entry: Citizens, Sanitation Workers, and Admin log in from the same unified portal.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dirty="0"/>
              <a:t>• Role-Based Redirection: System automatically navigates user to their respective dashboard upon authentication.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dirty="0"/>
              <a:t>• Clean Design: No clutter or demo buttons, delivering a true production-grade look.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dirty="0"/>
              <a:t>• Worker Registration Link: Direct button 'Sanitation Driver? Register as Worker →' leading to driver signup.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dirty="0"/>
              <a:t>• Comprehensive Verification: Captures Full Name, Age, Gender, Mobile (Mandatory), Email (Mandatory), Depot Address, Photo upload/preview, and License / Employee ID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rPr dirty="0"/>
              <a:t>🌐 http://localhost:5173/ (Login Page &amp; Worker Form)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80441C-8AFA-B9F0-F31A-BAA8DB838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0" y="1983561"/>
            <a:ext cx="5580888" cy="405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Interface: Citizen Mobile Waste Reporting &amp; GPS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📸 Reporting Highlights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Phone Camera Integration: Direct camera shutter or gallery image selection.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Automatic Client Compression: Compresses camera photos under 500KB before upload for fast mobile network transmission.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Interactive Leaflet Map: Citizens can pinpoint exact garbage coordinates by dragging the pin or tapping.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HTML5 Geolocation: Optional 'Use Current GPS Location' button requesting permission only when triggered.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Anti-Duplicate Protection: Prevents duplicate submissions when the user taps submit repeatedly.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Instant Submission Feedback: Confirms successful report and queues report for municipal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🌐 http://localhost:5173/#report (Report Garbage Page)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6CEF9D-80E2-2060-5A36-3490826D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057401"/>
            <a:ext cx="6082872" cy="3787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Interface: Citizen EcoRewards &amp; Voucher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4E3B"/>
                </a:solidFill>
              </a:defRPr>
            </a:pPr>
            <a:r>
              <a:t>🎁 Gamification Highlights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20 Points Per Approved Report: Citizens earn verified reward points when the municipality approves their submission.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100-Point Milestone Tracker: Animated progress bar tracking completion towards the next municipal voucher.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Digital Voucher Catalog: Supermarket discounts, utility bill credits, and municipal transit passes.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One-Click Redemption: Instant voucher code generation with redeemed status tracking.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Mobile-Friendly Card View: Horizontal scrolling tables replaced with compact touch cards on mobile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🌐 http://localhost:5173/#rewards (EcoRewards &amp; Dashboard)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658D65-2F44-8952-6970-65F84B308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408" y="2103120"/>
            <a:ext cx="6178943" cy="34924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Interface: Worker Route &amp; Stop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🚛 Driver Field Interface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Mobile-Optimized Driver Portal: Built specifically for smartphone browsers mounted on collection truck dashboards.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Turn-by-Turn Sequential Stops: Ordered list of collection stops prioritized by the TSP routing algorithm.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Visual Garbage Previews: Drivers see thumbnail photos of the garbage and exact landmark instructions.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Real-Time Status Toggle: One-tap action buttons: 'Start Route' → 'In Progress' → 'Mark Collected'.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Offline Graceful Handling: Clear informative messages if GPS or network drops during transit.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🌐 http://localhost:5173/#worker (Worker Route Portal)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66E030-5E8B-78B1-4201-12648DF40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229" y="2203704"/>
            <a:ext cx="6220611" cy="34301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Interface: Admin Live GIS Map &amp; Route Optimizer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👑 Municipal Command Center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Live City-Wide GIS Map: Visualizes all reported waste blackspots, depot locations, and collection vehicles.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Severity Color Pins: Red for Emergency, Amber for High, Blue for Medium, Green for Resolved.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One-Click Dynamic Route Optimizer: Calculates shortest TSP path connecting open reports.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Route Metrics: Displays total distance in kilometers, estimated travel time, and stop count.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Truck Dispatch: Assigns optimized route directly to available registered sanitation workers.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🌐 http://localhost:5173/#map / #optimizer (Admin Portal)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4CC65A-290C-6183-18AD-4490934B1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318" y="2057399"/>
            <a:ext cx="6176522" cy="37534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Interface: Dedicated Workers &amp; Citizens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4E3B"/>
                </a:solidFill>
              </a:defRPr>
            </a:pPr>
            <a:r>
              <a:t>👥 Separate Admin Pages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Separate Workers Page (AdminWorkersPage): Dedicated page to review sanitation drivers.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Driver Credential Inspection: Inspects worker photo, mobile number, depot address, and Commercial DL / Gov ID proof.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Approve &amp; Delete Actions: Admin can approve pending driver applications or delete invalid entries.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Separate Citizens Page (AdminCitizensPage): Dedicated page to monitor registered citizens.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Citizen Auditing: Displays total reports submitted, approved counts, reward points, and approval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🌐 http://localhost:5173/#admin-workers &amp; #admin-citizens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F417E8-9AC2-5929-3823-156FBB66D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561" y="4024971"/>
            <a:ext cx="4006185" cy="20369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85D1DE-616E-9F3C-03E6-33722F30B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2002536"/>
            <a:ext cx="3367352" cy="19584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Interface: Universal Profile View &amp; Edit (All Roles)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👤 Profile Capabilities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Universal Access: Admin, Sanitation Workers, and Citizens can all view and edit their profile from their dashboard.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Custom Profile Photo: Users can capture a new photo with camera or upload an image.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Editable Details: Update Full Name, Email, Mobile Number, Age, Gender, and Residential Address.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Worker ID Verification: Workers can view and update their Driver License / Employee ID number.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Navbar Synchronization: Updating the profile photo immediately updates the avatar pill across desktop and mobile headers.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4922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554480"/>
            <a:ext cx="64922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102352" y="167335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66944" y="167335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31536" y="167335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0" y="1609344"/>
            <a:ext cx="55778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🌐 http://localhost:5173/ (Click User Avatar -&gt; Edit Profile)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A47565-8AB5-B717-1275-418061E37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783" y="2148839"/>
            <a:ext cx="6197817" cy="35342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Database Design: Entity-Relationship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66360" cy="384048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👤 UserProfile (Extends auth_user)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PK: id (FK -&gt; auth.User)  |  role: 'admin' | 'worker' | 'citizen'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is_approved: Boolean (Default False; True for superuser)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phone: VarChar(20)  |  email: VarChar(254) [Mandatory]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age: Integer  |  gender: 'male' | 'female' | 'other'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address: TextField  |  id_details: VarChar(150) [Worker DL/ID]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profile_photo: TextField (Base64 / URL)  |  reward_points: Integer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16636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🗑️ WasteReport (Geotagged Complaints)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PK: id  |  citizen_id: FK -&gt; UserProfile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latitude, longitude: Decimal(10, 7) [GPS precision]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image_url: TextField (Compressed waste photo)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waste_type: 'organic' | 'plastic' | 'hazardous' | 'e_waste'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severity: 'low' | 'medium' | 'high' | 'emergency'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status: 'pending' | 'approved' | 'collected' | 'rejected'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16636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🚛 CollectionRoute &amp; RouteStop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Route PK: id  |  assigned_worker: FK -&gt; UserProfile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vehicle_number: VarChar(30)  |  status: 'planned' | 'in_progress' | 'completed'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total_distance_km: Float  |  estimated_duration_min: Integer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Stop PK: id  |  route_id: FK -&gt; CollectionRoute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report_id: FK -&gt; WasteReport  |  stop_sequence: Integer (1, 2, ...)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is_collected: Boolean  |  collected_at: DateTime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23360"/>
            <a:ext cx="516636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4023360"/>
            <a:ext cx="516636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🎁 RewardVoucher &amp; Redemption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• PK: id  |  title: VarChar(100)  |  partner_merchant: VarChar(100)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points_cost: Integer (e.g., 100 points)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discount_code: VarChar(50) (e.g., 'CLEAN100-XYZ')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expiry_date: Date  |  is_active: Boolean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Redemption PK: id  |  user_id: FK -&gt; UserProfile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voucher_id: FK -&gt; RewardVoucher  |  redeemed_at: DateTime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Quality Assurance: Testing, Performance &amp;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4E3B"/>
                </a:solidFill>
              </a:defRPr>
            </a:pPr>
            <a:r>
              <a:t>🧪 Automated Test Suite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18 Automated Django Unit Tests: 100% passing test execution.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Role Redirection Tests: Verifies admin, worker, and citizen redirect tabs.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Approval Barrier Tests: Confirms pending accounts are rejected with 403 Forbidden.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Admin Action Tests: Verifies worker approval, citizen approval, and safe deletion.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Superuser Guard Tests: Confirms superuser cannot be deleted accidentally.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Frontend Build Test: Vite production build passed with 0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7490"/>
                </a:solidFill>
              </a:defRPr>
            </a:pPr>
            <a:r>
              <a:t>♿ WCAG 2.2 AA Compliance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Touch Targets &gt;= 44x44px: All interactive buttons and inputs fit mobile thumbs.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High Contrast Ratios: Text contrast strictly &gt;= 4.5:1 against backgrounds.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Screen Reader Support: Full ARIA labels, semantic landmark elements (&lt;main&gt;, &lt;header&gt;).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Visible Focus Rings: Clean focus rings for keyboard tab navigation.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Responsive 320px+: Zero horizontal clipping or overlapping from 320px to 4K displays.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Reduced Motion: Respects prefers-reduced-motion OS preferences.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337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Security &amp; Performance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Only ONE Superuser Admin: Enforced at the model level; impossible to elevate unauthorized users.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Client-Side Compression: Shrinks multi-megabyte photos to under 500KB in browser memory.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Server-Side Model AI: Prevents loading gigabyte weights onto mobile clients.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CORS &amp; CSRF Shielding: Protects REST API endpoints against cross-site exploitation.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No Fabricated GPS: Validates real coordinates without displaying fake live markers.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✓ Session Token Protection: Safe token storage with automatic session timeout.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CLEANCITY • AI SMART WASTE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Enhancements &amp; Scalability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3716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📡 1. IoT Ultrasonic Smart Bin Integration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Deployment of solar-powered LoRaWAN / NB-IoT fill-level sensors inside public bins, triggering automatic dispatch when bins reach 85%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137160" cy="10058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5292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📴 2. Offline-First PWA Background Sync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Utilizing Service Worker Background Sync to queue report photos in IndexedDB when network coverage is lost, uploading automatically when back online.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37160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04164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🏆 3. City-Wide Ward Leaderboard &amp; Gamification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Inter-ward cleanliness competitions, community badges, and school/college eco-champion leaderboards to boost civic participation.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13716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23036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🤝 4. Automated Merchant Voucher API Ecosystem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Direct API integration with municipal utility boards (electricity/water bill discounts) and retail supermarket chains for instant automated voucher redemption.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96696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9418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1F5F9"/>
                </a:solidFill>
              </a:defRPr>
            </a:pPr>
            <a:r>
              <a:t>✅ CleanCity successfully bridges the gap between citizens, sanitation drivers, and municipal administration.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</a:defRPr>
            </a:pPr>
            <a:r>
              <a:t>✅ AI Computer Vision prioritizes hazardous waste and eliminates manual visual verification overhead.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</a:defRPr>
            </a:pPr>
            <a:r>
              <a:t>✅ Dynamic TSP route optimization slashes municipal fuel expenditures by up to 35%.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</a:defRPr>
            </a:pPr>
            <a:r>
              <a:t>✅ Gamified EcoRewards actively encourage civic cleanliness and responsible waste reporting.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</a:defRPr>
            </a:pPr>
            <a:r>
              <a:t>✅ Single unified responsive web app provides mobile-first accessibility across all devices without native app overhead.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</a:defRPr>
            </a:pPr>
            <a:r>
              <a:t>✅ Strict Admin approval workflow guarantees role security and driver credential vetting.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4393</Words>
  <Application>Microsoft Office PowerPoint</Application>
  <PresentationFormat>Widescreen</PresentationFormat>
  <Paragraphs>384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adithya r</cp:lastModifiedBy>
  <cp:revision>2</cp:revision>
  <dcterms:created xsi:type="dcterms:W3CDTF">2013-01-27T09:14:16Z</dcterms:created>
  <dcterms:modified xsi:type="dcterms:W3CDTF">2026-10-22T05:34:51Z</dcterms:modified>
  <cp:category/>
</cp:coreProperties>
</file>